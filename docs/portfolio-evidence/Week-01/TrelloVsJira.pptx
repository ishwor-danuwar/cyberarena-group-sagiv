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Trello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Ease of Setup</c:v>
                  </c:pt>
                  <c:pt idx="1">
                    <c:v>Task Visibility</c:v>
                  </c:pt>
                  <c:pt idx="2">
                    <c:v>Sprint Support</c:v>
                  </c:pt>
                  <c:pt idx="3">
                    <c:v>Agile Features</c:v>
                  </c:pt>
                  <c:pt idx="4">
                    <c:v>Team Fit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9</c:v>
                </c:pt>
                <c:pt idx="2">
                  <c:v>7</c:v>
                </c:pt>
                <c:pt idx="3">
                  <c:v>6</c:v>
                </c:pt>
                <c:pt idx="4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Jira</c:v>
                </c:pt>
              </c:strCache>
            </c:strRef>
          </c:tx>
          <c:spPr>
            <a:solidFill>
              <a:srgbClr val="6554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Ease of Setup</c:v>
                  </c:pt>
                  <c:pt idx="1">
                    <c:v>Task Visibility</c:v>
                  </c:pt>
                  <c:pt idx="2">
                    <c:v>Sprint Support</c:v>
                  </c:pt>
                  <c:pt idx="3">
                    <c:v>Agile Features</c:v>
                  </c:pt>
                  <c:pt idx="4">
                    <c:v>Team Fit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7</c:v>
                </c:pt>
                <c:pt idx="2">
                  <c:v>9</c:v>
                </c:pt>
                <c:pt idx="3">
                  <c:v>10</c:v>
                </c:pt>
                <c:pt idx="4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Trello vs Jira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Comparison for Agile Game Development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0" y="2697480"/>
            <a:ext cx="4572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chose Trello for our class project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3520440"/>
            <a:ext cx="640080" cy="64008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352044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26080" y="4206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Trello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206240" y="4251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212080" y="4206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Jira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Are They?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3931920" cy="59436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7899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0058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Trello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17373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project management tool using Kanban-style boards, lists, and cards.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51460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Atlassian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drag-and-drop interface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= tasks, Lists = stages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small teams &amp; students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937760" y="100584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37760" y="1005840"/>
            <a:ext cx="3931920" cy="594360"/>
          </a:xfrm>
          <a:prstGeom prst="rect">
            <a:avLst/>
          </a:prstGeom>
          <a:solidFill>
            <a:srgbClr val="6554C0"/>
          </a:solidFill>
          <a:ln w="12700">
            <a:solidFill>
              <a:srgbClr val="6554C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07899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10058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Jira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5120640" y="17373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powerful project tracking tool designed for agile software development teams.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120640" y="251460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Atlassian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with many configurations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Stories, epics, sprints &amp; backlog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large software teams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114800" y="228600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11480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Ease of Use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Use Score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737360" y="1444752"/>
            <a:ext cx="36576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1444752"/>
            <a:ext cx="338328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1371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737360" y="1901952"/>
            <a:ext cx="36576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1901952"/>
            <a:ext cx="1828800" cy="228600"/>
          </a:xfrm>
          <a:prstGeom prst="rect">
            <a:avLst/>
          </a:prstGeom>
          <a:solidFill>
            <a:srgbClr val="6554C0"/>
          </a:solidFill>
          <a:ln w="12700">
            <a:solidFill>
              <a:srgbClr val="6554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1828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55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377440"/>
            <a:ext cx="39319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377440"/>
            <a:ext cx="3931920" cy="41148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77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Trello — Simple &amp; Intuitive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907792"/>
            <a:ext cx="228600" cy="2286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31520" y="285292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Kanban board</a:t>
            </a:r>
            <a:endParaRPr lang="en-US" sz="1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364992"/>
            <a:ext cx="228600" cy="2286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" y="331012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needed to get started</a:t>
            </a:r>
            <a:endParaRPr lang="en-US" sz="13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822192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31520" y="376732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visual layout</a:t>
            </a:r>
            <a:endParaRPr lang="en-US" sz="13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279392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" y="422452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in under 5 minutes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937760" y="2377440"/>
            <a:ext cx="39319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937760" y="2377440"/>
            <a:ext cx="3931920" cy="411480"/>
          </a:xfrm>
          <a:prstGeom prst="rect">
            <a:avLst/>
          </a:prstGeom>
          <a:solidFill>
            <a:srgbClr val="6554C0"/>
          </a:solidFill>
          <a:ln w="12700">
            <a:solidFill>
              <a:srgbClr val="6554C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029200" y="2377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Jira — Powerful but Complex</a:t>
            </a:r>
            <a:endParaRPr lang="en-US" sz="13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907792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94960" y="285292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learning curve</a:t>
            </a:r>
            <a:endParaRPr lang="en-US" sz="13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364992"/>
            <a:ext cx="228600" cy="2286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394960" y="331012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setup &amp; configuration</a:t>
            </a:r>
            <a:endParaRPr lang="en-US" sz="13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3822192"/>
            <a:ext cx="228600" cy="2286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394960" y="376732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menus and options</a:t>
            </a:r>
            <a:endParaRPr lang="en-US" sz="13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4279392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394960" y="422452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customisable once learned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Free Version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3931920" cy="50292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960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Trello — Free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0020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cards &amp; members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93976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9808" y="204825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boards per workspace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587752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9808" y="25420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automations (Butler)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081528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49808" y="30358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desktop apps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575304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49808" y="352958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with Slack, Drive</a:t>
            </a:r>
            <a:endParaRPr lang="en-US" sz="13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069080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49808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Power-Up per board</a:t>
            </a:r>
            <a:endParaRPr lang="en-US" sz="1300" dirty="0"/>
          </a:p>
        </p:txBody>
      </p:sp>
      <p:sp>
        <p:nvSpPr>
          <p:cNvPr id="20" name="Shape 11"/>
          <p:cNvSpPr/>
          <p:nvPr/>
        </p:nvSpPr>
        <p:spPr>
          <a:xfrm>
            <a:off x="4937760" y="96012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2"/>
          <p:cNvSpPr/>
          <p:nvPr/>
        </p:nvSpPr>
        <p:spPr>
          <a:xfrm>
            <a:off x="4937760" y="960120"/>
            <a:ext cx="3931920" cy="502920"/>
          </a:xfrm>
          <a:prstGeom prst="rect">
            <a:avLst/>
          </a:prstGeom>
          <a:solidFill>
            <a:srgbClr val="6554C0"/>
          </a:solidFill>
          <a:ln w="12700">
            <a:solidFill>
              <a:srgbClr val="6554C0"/>
            </a:solidFill>
            <a:prstDash val="solid"/>
          </a:ln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1005840"/>
            <a:ext cx="365760" cy="36576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532120" y="960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Jira — Free (up to 10 users)</a:t>
            </a:r>
            <a:endParaRPr lang="en-US" sz="14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4920" y="1600200"/>
            <a:ext cx="228600" cy="2286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413248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&amp; Kanban boards</a:t>
            </a:r>
            <a:endParaRPr lang="en-US" sz="13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4920" y="2093976"/>
            <a:ext cx="228600" cy="22860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413248" y="204825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management</a:t>
            </a:r>
            <a:endParaRPr lang="en-US" sz="13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74920" y="2587752"/>
            <a:ext cx="228600" cy="22860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5413248" y="25420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roadmaps</a:t>
            </a:r>
            <a:endParaRPr lang="en-US" sz="130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74920" y="3081528"/>
            <a:ext cx="228600" cy="22860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5413248" y="30358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tools</a:t>
            </a:r>
            <a:endParaRPr lang="en-US" sz="1300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74920" y="3575304"/>
            <a:ext cx="228600" cy="228600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5413248" y="352958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advanced reporting</a:t>
            </a:r>
            <a:endParaRPr lang="en-US" sz="1300" dirty="0"/>
          </a:p>
        </p:txBody>
      </p:sp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74920" y="4069080"/>
            <a:ext cx="228600" cy="228600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5413248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analytics &amp; dashboards</a:t>
            </a:r>
            <a:endParaRPr lang="en-US" sz="1300" dirty="0"/>
          </a:p>
        </p:txBody>
      </p:sp>
      <p:sp>
        <p:nvSpPr>
          <p:cNvPr id="36" name="Shape 20"/>
          <p:cNvSpPr/>
          <p:nvPr/>
        </p:nvSpPr>
        <p:spPr>
          <a:xfrm>
            <a:off x="4114800" y="251460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21"/>
          <p:cNvSpPr/>
          <p:nvPr/>
        </p:nvSpPr>
        <p:spPr>
          <a:xfrm>
            <a:off x="4114800" y="2514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Support for Project Work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60120"/>
            <a:ext cx="3108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06440" y="11887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216152"/>
            <a:ext cx="475488" cy="4754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4652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Kanban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46520" y="14630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Trello's board keeps your sprint tasks visible for the whole team at a glance.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760720" y="2286000"/>
            <a:ext cx="3108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806440" y="25146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2542032"/>
            <a:ext cx="475488" cy="4754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46520" y="2423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Setup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446520" y="27889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 takes minutes to configure vs hours for Jira.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760720" y="3611880"/>
            <a:ext cx="3108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806440" y="38404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3867912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4652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Dev Fit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446520" y="41148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team, short sprints — Trello matches academic game dev projects.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Side-by-Side Summary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4023360"/>
        </p:xfrm>
        <a:graphic>
          <a:graphicData uri="http://schemas.openxmlformats.org/drawingml/2006/table">
            <a:tbl>
              <a:tblPr/>
              <a:tblGrid>
                <a:gridCol w="2286000"/>
                <a:gridCol w="3154680"/>
                <a:gridCol w="31546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Trello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4C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Ease of 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 Very Easy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 Steep Learning Curve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to 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boards, unlimited cards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10 users, sprints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Kanban 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Core 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Available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Planning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Full Scrum support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Burndown Charts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Not built-in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Small/student teams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professional teams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Project Fit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Perfect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Overkill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We Chose Trello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86000" y="960120"/>
            <a:ext cx="4572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4114800" cy="1463040"/>
          </a:xfrm>
          <a:prstGeom prst="rect">
            <a:avLst/>
          </a:prstGeom>
          <a:solidFill>
            <a:srgbClr val="16205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581912"/>
            <a:ext cx="621792" cy="6217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371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80160" y="178308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our team collaborating in minutes — no setup overhead.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09160" y="1188720"/>
            <a:ext cx="4114800" cy="1463040"/>
          </a:xfrm>
          <a:prstGeom prst="rect">
            <a:avLst/>
          </a:prstGeom>
          <a:solidFill>
            <a:srgbClr val="16205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46320" y="155448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581912"/>
            <a:ext cx="621792" cy="6217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371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Size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669280" y="178308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small teams, not enterprise-scale deployments.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20040" y="2880360"/>
            <a:ext cx="4114800" cy="1463040"/>
          </a:xfrm>
          <a:prstGeom prst="rect">
            <a:avLst/>
          </a:prstGeom>
          <a:solidFill>
            <a:srgbClr val="16205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7200" y="324612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273552"/>
            <a:ext cx="621792" cy="6217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0632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Visibility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280160" y="34747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visible on one board — perfect for short sprints.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709160" y="2880360"/>
            <a:ext cx="4114800" cy="1463040"/>
          </a:xfrm>
          <a:prstGeom prst="rect">
            <a:avLst/>
          </a:prstGeom>
          <a:solidFill>
            <a:srgbClr val="16205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846320" y="324612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273552"/>
            <a:ext cx="621792" cy="62179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69280" y="30632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Focus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669280" y="34747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configuring tools, more time building the game.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 was the right tool for the right scale.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Trello vs Jira</dc:title>
  <dc:subject>PptxGenJS Presentation</dc:subject>
  <dc:creator>PptxGenJS</dc:creator>
  <cp:lastModifiedBy>PptxGenJS</cp:lastModifiedBy>
  <cp:revision>1</cp:revision>
  <dcterms:created xsi:type="dcterms:W3CDTF">2026-05-21T13:31:28Z</dcterms:created>
  <dcterms:modified xsi:type="dcterms:W3CDTF">2026-05-21T13:31:28Z</dcterms:modified>
</cp:coreProperties>
</file>